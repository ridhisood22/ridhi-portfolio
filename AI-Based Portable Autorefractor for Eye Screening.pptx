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 Semi Bold" panose="020B0604020202020204" charset="0"/>
      <p:regular r:id="rId13"/>
    </p:embeddedFont>
    <p:embeddedFont>
      <p:font typeface="Inter Medium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60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dhi sood" userId="8830b73ce840f4d0" providerId="LiveId" clId="{9650D5E4-750E-4320-BBD2-3FFD2DA3021F}"/>
    <pc:docChg chg="undo custSel modSld">
      <pc:chgData name="ridhi sood" userId="8830b73ce840f4d0" providerId="LiveId" clId="{9650D5E4-750E-4320-BBD2-3FFD2DA3021F}" dt="2026-05-01T08:40:55.868" v="127" actId="14100"/>
      <pc:docMkLst>
        <pc:docMk/>
      </pc:docMkLst>
      <pc:sldChg chg="modSp mod">
        <pc:chgData name="ridhi sood" userId="8830b73ce840f4d0" providerId="LiveId" clId="{9650D5E4-750E-4320-BBD2-3FFD2DA3021F}" dt="2026-05-01T08:40:55.868" v="127" actId="14100"/>
        <pc:sldMkLst>
          <pc:docMk/>
          <pc:sldMk cId="0" sldId="262"/>
        </pc:sldMkLst>
        <pc:spChg chg="mod">
          <ac:chgData name="ridhi sood" userId="8830b73ce840f4d0" providerId="LiveId" clId="{9650D5E4-750E-4320-BBD2-3FFD2DA3021F}" dt="2026-05-01T08:40:55.868" v="127" actId="14100"/>
          <ac:spMkLst>
            <pc:docMk/>
            <pc:sldMk cId="0" sldId="262"/>
            <ac:spMk id="2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5626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DAC2713-75CE-9192-5627-FF98B54D09DE}"/>
              </a:ext>
            </a:extLst>
          </p:cNvPr>
          <p:cNvSpPr/>
          <p:nvPr/>
        </p:nvSpPr>
        <p:spPr>
          <a:xfrm>
            <a:off x="871716" y="1357729"/>
            <a:ext cx="2809280" cy="426244"/>
          </a:xfrm>
          <a:prstGeom prst="roundRect">
            <a:avLst>
              <a:gd name="adj" fmla="val 6386"/>
            </a:avLst>
          </a:prstGeom>
          <a:solidFill>
            <a:srgbClr val="D4F7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312FF82-6AEE-B69C-7896-CDB46C2C7AB4}"/>
              </a:ext>
            </a:extLst>
          </p:cNvPr>
          <p:cNvSpPr/>
          <p:nvPr/>
        </p:nvSpPr>
        <p:spPr>
          <a:xfrm>
            <a:off x="1007804" y="1425713"/>
            <a:ext cx="253710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CAPSTONE PROJECT |  2026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7F7C058-81B0-5815-6E78-EA28C01BDA73}"/>
              </a:ext>
            </a:extLst>
          </p:cNvPr>
          <p:cNvSpPr/>
          <p:nvPr/>
        </p:nvSpPr>
        <p:spPr>
          <a:xfrm>
            <a:off x="708362" y="2039123"/>
            <a:ext cx="4667845" cy="4832747"/>
          </a:xfrm>
          <a:prstGeom prst="roundRect">
            <a:avLst>
              <a:gd name="adj" fmla="val 729"/>
            </a:avLst>
          </a:prstGeom>
          <a:solidFill>
            <a:srgbClr val="0080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10AA3AF-81AA-2BD8-FAAA-2B0DDD9481C4}"/>
              </a:ext>
            </a:extLst>
          </p:cNvPr>
          <p:cNvSpPr/>
          <p:nvPr/>
        </p:nvSpPr>
        <p:spPr>
          <a:xfrm>
            <a:off x="935176" y="2265937"/>
            <a:ext cx="4214217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OcuSmart</a:t>
            </a:r>
            <a:endParaRPr lang="en-US" sz="61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775AC6-49A2-EB7F-F7F4-5BE90153220A}"/>
              </a:ext>
            </a:extLst>
          </p:cNvPr>
          <p:cNvSpPr/>
          <p:nvPr/>
        </p:nvSpPr>
        <p:spPr>
          <a:xfrm>
            <a:off x="935176" y="3470969"/>
            <a:ext cx="4214217" cy="1700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AI-Powered Portable Autorefractor</a:t>
            </a:r>
            <a:endParaRPr lang="en-US" sz="35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4038B70-D7EC-97F9-8251-536C7E38811D}"/>
              </a:ext>
            </a:extLst>
          </p:cNvPr>
          <p:cNvSpPr/>
          <p:nvPr/>
        </p:nvSpPr>
        <p:spPr>
          <a:xfrm>
            <a:off x="935176" y="5398710"/>
            <a:ext cx="421421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Bridging Clinical Accuracy &amp; Everyday Accessibility</a:t>
            </a:r>
            <a:endParaRPr lang="en-US" sz="17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A46AB5C-4461-8B81-6294-E679AD9735A3}"/>
              </a:ext>
            </a:extLst>
          </p:cNvPr>
          <p:cNvSpPr/>
          <p:nvPr/>
        </p:nvSpPr>
        <p:spPr>
          <a:xfrm>
            <a:off x="5773876" y="2265937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0008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Team Members</a:t>
            </a:r>
            <a:endParaRPr lang="en-US" sz="35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5F38824-3A4F-EEB8-0C97-B242713DD2DD}"/>
              </a:ext>
            </a:extLst>
          </p:cNvPr>
          <p:cNvSpPr/>
          <p:nvPr/>
        </p:nvSpPr>
        <p:spPr>
          <a:xfrm>
            <a:off x="5773876" y="3059727"/>
            <a:ext cx="814816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Ridhi Sood (102305055)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Prachita Garg (102305075)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Yuvraj Singh (102305087)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Aryaman Padap 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(102305051)</a:t>
            </a:r>
            <a:endParaRPr lang="en-US" sz="17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251E492-A7E4-2E9E-6A54-8C5D02585920}"/>
              </a:ext>
            </a:extLst>
          </p:cNvPr>
          <p:cNvSpPr/>
          <p:nvPr/>
        </p:nvSpPr>
        <p:spPr>
          <a:xfrm>
            <a:off x="5773876" y="4879869"/>
            <a:ext cx="8148161" cy="35957"/>
          </a:xfrm>
          <a:prstGeom prst="rect">
            <a:avLst/>
          </a:prstGeom>
          <a:solidFill>
            <a:srgbClr val="464646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18FB55C-A591-075D-8929-86CF49BEC9EB}"/>
              </a:ext>
            </a:extLst>
          </p:cNvPr>
          <p:cNvSpPr/>
          <p:nvPr/>
        </p:nvSpPr>
        <p:spPr>
          <a:xfrm>
            <a:off x="5773876" y="5170943"/>
            <a:ext cx="814816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BE Third Year – Electronics Instrumentation &amp; Control</a:t>
            </a:r>
            <a:endParaRPr lang="en-US" sz="17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7406223-CEA7-6F2F-37DC-DACBC09C4471}"/>
              </a:ext>
            </a:extLst>
          </p:cNvPr>
          <p:cNvSpPr/>
          <p:nvPr/>
        </p:nvSpPr>
        <p:spPr>
          <a:xfrm>
            <a:off x="5773876" y="5737919"/>
            <a:ext cx="814816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50"/>
              </a:lnSpc>
            </a:pPr>
            <a:r>
              <a:rPr lang="en-US" sz="1750" dirty="0"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Mentors: Dr. Gagandeep Kaur &amp; Dr. Swati Sondhi </a:t>
            </a:r>
            <a:endParaRPr lang="en-US" sz="17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A499B2E-3071-4AC7-C292-6D5A1629347B}"/>
              </a:ext>
            </a:extLst>
          </p:cNvPr>
          <p:cNvSpPr/>
          <p:nvPr/>
        </p:nvSpPr>
        <p:spPr>
          <a:xfrm>
            <a:off x="5773876" y="6304895"/>
            <a:ext cx="814816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Thapar Institute of Engineering and Technology, Patiala</a:t>
            </a:r>
            <a:endParaRPr lang="en-US" sz="1750" dirty="0"/>
          </a:p>
        </p:txBody>
      </p:sp>
      <p:pic>
        <p:nvPicPr>
          <p:cNvPr id="1026" name="Picture 2" descr="Thapar University – Indo-Global Foundation">
            <a:extLst>
              <a:ext uri="{FF2B5EF4-FFF2-40B4-BE49-F238E27FC236}">
                <a16:creationId xmlns:a16="http://schemas.microsoft.com/office/drawing/2014/main" id="{9CECE8DA-E0B4-BC89-E645-91A698C44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0710" y="228302"/>
            <a:ext cx="3438525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615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5459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04173"/>
            <a:ext cx="610874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 affordable, portable AI-based autorefractor designed for objective eye screening in rural and low-resource areas. The system combines infrared illumination, optical sensing hardware, and AI-driven software to estimate refractive errors including myopia, hyperopia, astigmatism, and color blindness.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5285661"/>
            <a:ext cx="610874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Key Innovation: Eliminates need for uncomfortable mydriatic eye drops while providing accurate refractive measurements in seconds.</a:t>
            </a:r>
            <a:endParaRPr lang="en-US" sz="17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65D96B-414A-469D-96BC-0DD3216DB2D9}"/>
              </a:ext>
            </a:extLst>
          </p:cNvPr>
          <p:cNvSpPr/>
          <p:nvPr/>
        </p:nvSpPr>
        <p:spPr>
          <a:xfrm>
            <a:off x="12387943" y="7554686"/>
            <a:ext cx="2242457" cy="5660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9AA73A-2925-BDF0-0896-D26C987407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095"/>
          <a:stretch>
            <a:fillRect/>
          </a:stretch>
        </p:blipFill>
        <p:spPr>
          <a:xfrm>
            <a:off x="7141029" y="2536508"/>
            <a:ext cx="7351940" cy="39334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308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Need Analysis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05489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F2EEEE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22323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C977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7770" y="241935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Global Vision Crisis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3629978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Refractive errors are the most common and easily correctable causes of vision impairment worldwide.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2005489"/>
            <a:ext cx="6408063" cy="2577108"/>
          </a:xfrm>
          <a:prstGeom prst="roundRect">
            <a:avLst>
              <a:gd name="adj" fmla="val 1320"/>
            </a:avLst>
          </a:prstGeom>
          <a:solidFill>
            <a:srgbClr val="F2EEEE"/>
          </a:solidFill>
          <a:ln/>
        </p:spPr>
      </p:sp>
      <p:sp>
        <p:nvSpPr>
          <p:cNvPr id="9" name="Shape 6"/>
          <p:cNvSpPr/>
          <p:nvPr/>
        </p:nvSpPr>
        <p:spPr>
          <a:xfrm>
            <a:off x="7655362" y="22323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C977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2528" y="241935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55362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Clinical Bottleneck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55362" y="3629978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Traditional screenings require expensive, heavy equipment and trained professionals to operate.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809411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F2EEEE"/>
          </a:solidFill>
          <a:ln/>
        </p:spPr>
      </p:sp>
      <p:sp>
        <p:nvSpPr>
          <p:cNvPr id="14" name="Shape 10"/>
          <p:cNvSpPr/>
          <p:nvPr/>
        </p:nvSpPr>
        <p:spPr>
          <a:xfrm>
            <a:off x="1020604" y="503622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C977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7770" y="5223272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0604" y="59434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Time-Consuming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0604" y="6433899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Standard procedures need mydriatic eye drops, causing discomfort and blurry vision for hours.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809411"/>
            <a:ext cx="6408063" cy="2577108"/>
          </a:xfrm>
          <a:prstGeom prst="roundRect">
            <a:avLst>
              <a:gd name="adj" fmla="val 1320"/>
            </a:avLst>
          </a:prstGeom>
          <a:solidFill>
            <a:srgbClr val="F2EEEE"/>
          </a:solidFill>
          <a:ln/>
        </p:spPr>
      </p:sp>
      <p:sp>
        <p:nvSpPr>
          <p:cNvPr id="19" name="Shape 14"/>
          <p:cNvSpPr/>
          <p:nvPr/>
        </p:nvSpPr>
        <p:spPr>
          <a:xfrm>
            <a:off x="7655362" y="503622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C9770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2528" y="5223272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55362" y="59434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Accessibility Gap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55362" y="6433899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Limited access to optometric care in rural and developing regions leaves conditions undiagnosed.</a:t>
            </a:r>
            <a:endParaRPr lang="en-US" sz="17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B71097-C104-E48A-8772-4C9CF5373A37}"/>
              </a:ext>
            </a:extLst>
          </p:cNvPr>
          <p:cNvSpPr/>
          <p:nvPr/>
        </p:nvSpPr>
        <p:spPr>
          <a:xfrm>
            <a:off x="12387943" y="7554686"/>
            <a:ext cx="2242457" cy="5660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45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Objectives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22044"/>
            <a:ext cx="6407944" cy="3048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196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Design Prototype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686770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Handheld, non-mydriatic photo-screening device for affordable mass vision screening.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022044"/>
            <a:ext cx="6408063" cy="3048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3196352"/>
            <a:ext cx="29453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Real-Time Algorithms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686770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Implement AI-driven detection of myopia, hyperopia, and astigmatism.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164455"/>
            <a:ext cx="6407944" cy="3048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CVD Screening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82918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Develop color vision deficiency testing via pupil constriction response measurement.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164455"/>
            <a:ext cx="6408063" cy="3048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Retinal Health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829181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Establish method for assessing overall retinal health using pupillary response.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746080-0B2A-BCAE-AFE7-1ADF563216DA}"/>
              </a:ext>
            </a:extLst>
          </p:cNvPr>
          <p:cNvSpPr/>
          <p:nvPr/>
        </p:nvSpPr>
        <p:spPr>
          <a:xfrm>
            <a:off x="12268201" y="7554686"/>
            <a:ext cx="2242457" cy="5660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5116"/>
            <a:ext cx="63178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Hardware Components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087523"/>
            <a:ext cx="3048000" cy="304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3623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Raspberry Pi 4 (4GB)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852755"/>
            <a:ext cx="304800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Central processing unit running Python/OpenCV vision suite and diagnostic engine.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278" y="2087523"/>
            <a:ext cx="3048119" cy="30481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5278" y="5362456"/>
            <a:ext cx="30088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SONY IMX296 Camera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25278" y="5852874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Global shutter camera captures high-resolution retinal reflections without motion blur.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2087523"/>
            <a:ext cx="3048119" cy="30481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6884" y="53624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850nm IR LEDs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56884" y="5852874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Safe infrared illumination captures "red reflex" without pupil constriction or discomfort.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491" y="2087523"/>
            <a:ext cx="3048119" cy="304811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88491" y="53624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VL53L1X ToF Sensor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788491" y="5852874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Ensures correct focal distance between device and patient's eye for accurate readings.</a:t>
            </a:r>
            <a:endParaRPr lang="en-US" sz="17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D95479-43FC-407C-2070-9702DD90AA23}"/>
              </a:ext>
            </a:extLst>
          </p:cNvPr>
          <p:cNvSpPr/>
          <p:nvPr/>
        </p:nvSpPr>
        <p:spPr>
          <a:xfrm>
            <a:off x="12312550" y="7554686"/>
            <a:ext cx="2242457" cy="5660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54762AE-8846-C29B-B79E-D5C8C28AD6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89" y="1951435"/>
            <a:ext cx="3048001" cy="318408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6A1981A-3654-073F-3185-672103B28C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25278" y="2087523"/>
            <a:ext cx="3048119" cy="304811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33ED57A-3EA8-8D1D-F8B1-6EF8D6DECE2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17594" y="2018110"/>
            <a:ext cx="3087409" cy="311753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E8AE241-E3B5-20F5-B927-B17751AF0E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89115" y="2042280"/>
            <a:ext cx="3726424" cy="31175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56" y="589240"/>
            <a:ext cx="5729288" cy="66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Software Architecture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49856" y="2629019"/>
            <a:ext cx="2678311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Vision Suite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49856" y="3166229"/>
            <a:ext cx="835199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Python/OpenCV scripts for real-time pupil detection and red reflex geometric analysis using Hirschberg Ratio calculations.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49856" y="4035385"/>
            <a:ext cx="2678311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Diagnostic Engine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49856" y="4572595"/>
            <a:ext cx="835199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algorithm classifies refractive errors and provides immediate "Pass/Refer" status on integrated touchscreen interface.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49856" y="5441752"/>
            <a:ext cx="2678311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Chromatic Module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49856" y="5978962"/>
            <a:ext cx="835199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Software-controlled red/blue light pupillometry tests retinal sensitivity for color vision deficiency screening.</a:t>
            </a:r>
            <a:endParaRPr lang="en-US" sz="16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2156" y="1789986"/>
            <a:ext cx="4255889" cy="567451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F1CD317-DD34-428F-3ED7-AB2B6B7EE26D}"/>
              </a:ext>
            </a:extLst>
          </p:cNvPr>
          <p:cNvSpPr/>
          <p:nvPr/>
        </p:nvSpPr>
        <p:spPr>
          <a:xfrm>
            <a:off x="12387943" y="7554686"/>
            <a:ext cx="2242457" cy="5660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027B6AE7-B283-AA09-1E90-47B71A7FEE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771" y="1730828"/>
            <a:ext cx="4341274" cy="5733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2514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Cost Analysis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174081"/>
            <a:ext cx="7556421" cy="4930378"/>
          </a:xfrm>
          <a:prstGeom prst="roundRect">
            <a:avLst>
              <a:gd name="adj" fmla="val 69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01410" y="2181701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28343" y="2325410"/>
            <a:ext cx="25590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Component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048601" y="2325410"/>
            <a:ext cx="18010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Category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310908" y="2325410"/>
            <a:ext cx="18048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Cost (INR)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801410" y="2832021"/>
            <a:ext cx="75411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028343" y="2975729"/>
            <a:ext cx="25590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Raspberry Pi 4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048601" y="2975729"/>
            <a:ext cx="18010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Computing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310908" y="2975729"/>
            <a:ext cx="18048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8,000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801410" y="3482340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4" name="Text 11"/>
          <p:cNvSpPr/>
          <p:nvPr/>
        </p:nvSpPr>
        <p:spPr>
          <a:xfrm>
            <a:off x="1028343" y="3626048"/>
            <a:ext cx="25590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Sony</a:t>
            </a:r>
            <a:r>
              <a:rPr lang="en-US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IMX296 Camera</a:t>
            </a:r>
            <a:endParaRPr lang="en-US" dirty="0"/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4048601" y="3626048"/>
            <a:ext cx="18010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Imaging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6310908" y="3626048"/>
            <a:ext cx="18048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8,000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801410" y="4132659"/>
            <a:ext cx="75411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1028343" y="4276368"/>
            <a:ext cx="25590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Custom 3D Printed Housing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4048601" y="4276368"/>
            <a:ext cx="18010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Hardware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6310908" y="4276368"/>
            <a:ext cx="18048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500</a:t>
            </a:r>
            <a:endParaRPr lang="en-US" sz="1750" dirty="0"/>
          </a:p>
        </p:txBody>
      </p:sp>
      <p:sp>
        <p:nvSpPr>
          <p:cNvPr id="21" name="Shape 18"/>
          <p:cNvSpPr/>
          <p:nvPr/>
        </p:nvSpPr>
        <p:spPr>
          <a:xfrm>
            <a:off x="801410" y="5145881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1121229" y="5289590"/>
            <a:ext cx="246612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Touchscreen Display</a:t>
            </a:r>
            <a:endParaRPr lang="en-US" sz="1750" dirty="0"/>
          </a:p>
        </p:txBody>
      </p:sp>
      <p:sp>
        <p:nvSpPr>
          <p:cNvPr id="23" name="Text 20"/>
          <p:cNvSpPr/>
          <p:nvPr/>
        </p:nvSpPr>
        <p:spPr>
          <a:xfrm>
            <a:off x="4048601" y="5289590"/>
            <a:ext cx="18010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Interface</a:t>
            </a:r>
            <a:endParaRPr lang="en-US" sz="1750" dirty="0"/>
          </a:p>
        </p:txBody>
      </p:sp>
      <p:sp>
        <p:nvSpPr>
          <p:cNvPr id="24" name="Text 21"/>
          <p:cNvSpPr/>
          <p:nvPr/>
        </p:nvSpPr>
        <p:spPr>
          <a:xfrm>
            <a:off x="6310908" y="5289590"/>
            <a:ext cx="18048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4,500</a:t>
            </a:r>
            <a:endParaRPr lang="en-US" sz="1750" dirty="0"/>
          </a:p>
        </p:txBody>
      </p:sp>
      <p:sp>
        <p:nvSpPr>
          <p:cNvPr id="25" name="Shape 22"/>
          <p:cNvSpPr/>
          <p:nvPr/>
        </p:nvSpPr>
        <p:spPr>
          <a:xfrm>
            <a:off x="801410" y="5796201"/>
            <a:ext cx="75411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1028343" y="5939909"/>
            <a:ext cx="25590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LED/Lens Array</a:t>
            </a:r>
            <a:endParaRPr lang="en-US" sz="1750" dirty="0"/>
          </a:p>
        </p:txBody>
      </p:sp>
      <p:sp>
        <p:nvSpPr>
          <p:cNvPr id="27" name="Text 24"/>
          <p:cNvSpPr/>
          <p:nvPr/>
        </p:nvSpPr>
        <p:spPr>
          <a:xfrm>
            <a:off x="4048601" y="5939909"/>
            <a:ext cx="18010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Optics</a:t>
            </a:r>
            <a:endParaRPr lang="en-US" sz="1750" dirty="0"/>
          </a:p>
        </p:txBody>
      </p:sp>
      <p:sp>
        <p:nvSpPr>
          <p:cNvPr id="28" name="Text 25"/>
          <p:cNvSpPr/>
          <p:nvPr/>
        </p:nvSpPr>
        <p:spPr>
          <a:xfrm>
            <a:off x="6310908" y="5939909"/>
            <a:ext cx="18048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2,500</a:t>
            </a:r>
            <a:endParaRPr lang="en-US" sz="1750" dirty="0"/>
          </a:p>
        </p:txBody>
      </p:sp>
      <p:sp>
        <p:nvSpPr>
          <p:cNvPr id="29" name="Shape 26"/>
          <p:cNvSpPr/>
          <p:nvPr/>
        </p:nvSpPr>
        <p:spPr>
          <a:xfrm>
            <a:off x="801410" y="6446520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1028343" y="6590228"/>
            <a:ext cx="25590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Total Prototype Cost</a:t>
            </a:r>
            <a:endParaRPr lang="en-US" sz="1750" dirty="0"/>
          </a:p>
        </p:txBody>
      </p:sp>
      <p:sp>
        <p:nvSpPr>
          <p:cNvPr id="31" name="Text 28"/>
          <p:cNvSpPr/>
          <p:nvPr/>
        </p:nvSpPr>
        <p:spPr>
          <a:xfrm>
            <a:off x="4048601" y="6590228"/>
            <a:ext cx="18010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-</a:t>
            </a:r>
            <a:endParaRPr lang="en-US" sz="1750" dirty="0"/>
          </a:p>
        </p:txBody>
      </p:sp>
      <p:sp>
        <p:nvSpPr>
          <p:cNvPr id="32" name="Text 29"/>
          <p:cNvSpPr/>
          <p:nvPr/>
        </p:nvSpPr>
        <p:spPr>
          <a:xfrm>
            <a:off x="6310908" y="6590228"/>
            <a:ext cx="18048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23,500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9378"/>
            <a:ext cx="59039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Design Specifications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51785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851785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25mm M12 Lens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599497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Custom-aligned optical assembly for high-resolution retinal reflection capture.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851785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2851785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850nm IR Filter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3599497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Blocks ambient light, isolates specific wavelength for clear "crescent moon" reflection analysis.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809411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310" y="4809411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524" y="5066705"/>
            <a:ext cx="29841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3.5-inch Touchscreen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5557123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Displays real-time automated diagnostic results with clear Pass/Refer status.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809411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8067" y="4809411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2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Battery-Powered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5557123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Untethered operation ensures portability for field environments and mass screening.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FFA2B2-5110-BC92-1F6C-5937B285BCA8}"/>
              </a:ext>
            </a:extLst>
          </p:cNvPr>
          <p:cNvSpPr/>
          <p:nvPr/>
        </p:nvSpPr>
        <p:spPr>
          <a:xfrm>
            <a:off x="12279086" y="7554686"/>
            <a:ext cx="2242457" cy="5660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395" y="757118"/>
            <a:ext cx="4903351" cy="612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Key Design Goals</a:t>
            </a:r>
            <a:endParaRPr lang="en-US" sz="3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395" y="1709023"/>
            <a:ext cx="490299" cy="490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6395" y="2411254"/>
            <a:ext cx="2451616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Portability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86395" y="2819281"/>
            <a:ext cx="6522839" cy="584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Handheld, battery-operated unit for field use in clinics and rural environments.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1166" y="1709023"/>
            <a:ext cx="490299" cy="4902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21166" y="2411254"/>
            <a:ext cx="2451616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Non-Invasive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7421166" y="2819281"/>
            <a:ext cx="6522839" cy="584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 uncomfortable eye drops required—uses safe infrared illumination instead.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6395" y="3743206"/>
            <a:ext cx="490299" cy="49029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6395" y="4445437"/>
            <a:ext cx="2451616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Speed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686395" y="4853464"/>
            <a:ext cx="6522839" cy="584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Results in seconds rather than minutes, enabling mass screening efficiency.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1166" y="3743206"/>
            <a:ext cx="490299" cy="49029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21166" y="4445437"/>
            <a:ext cx="2451616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Accuracy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7421166" y="4853464"/>
            <a:ext cx="6522839" cy="584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AI-driven computer vision provides reliable refractive error classification.</a:t>
            </a:r>
            <a:endParaRPr lang="en-US" sz="15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6395" y="5777389"/>
            <a:ext cx="490299" cy="49029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6395" y="6479619"/>
            <a:ext cx="2451616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Cost-Effective</a:t>
            </a:r>
            <a:endParaRPr lang="en-US" sz="1900" dirty="0"/>
          </a:p>
        </p:txBody>
      </p:sp>
      <p:sp>
        <p:nvSpPr>
          <p:cNvPr id="17" name="Text 10"/>
          <p:cNvSpPr/>
          <p:nvPr/>
        </p:nvSpPr>
        <p:spPr>
          <a:xfrm>
            <a:off x="686395" y="6887647"/>
            <a:ext cx="6522839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Total build cost under ₹25,000 ensures widespread accessibility.</a:t>
            </a:r>
            <a:endParaRPr lang="en-US" sz="15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21166" y="5777389"/>
            <a:ext cx="490299" cy="49029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421166" y="6479619"/>
            <a:ext cx="2451616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User-Friendly</a:t>
            </a:r>
            <a:endParaRPr lang="en-US" sz="1900" dirty="0"/>
          </a:p>
        </p:txBody>
      </p:sp>
      <p:sp>
        <p:nvSpPr>
          <p:cNvPr id="20" name="Text 12"/>
          <p:cNvSpPr/>
          <p:nvPr/>
        </p:nvSpPr>
        <p:spPr>
          <a:xfrm>
            <a:off x="7421166" y="6887647"/>
            <a:ext cx="6522839" cy="584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Simple interface accessible to non-expert operators in resource-limited areas.</a:t>
            </a:r>
            <a:endParaRPr lang="en-US" sz="15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11C79E-A727-4D16-951E-BB8EB9E93DC8}"/>
              </a:ext>
            </a:extLst>
          </p:cNvPr>
          <p:cNvSpPr/>
          <p:nvPr/>
        </p:nvSpPr>
        <p:spPr>
          <a:xfrm>
            <a:off x="12387943" y="7554686"/>
            <a:ext cx="2242457" cy="5660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0690" y="1058585"/>
            <a:ext cx="5990868" cy="67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Impact &amp; Future Vision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60690" y="2384703"/>
            <a:ext cx="3187065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Revolutionizing Eye Care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60690" y="2932509"/>
            <a:ext cx="4243388" cy="1702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OcuSmart bridges the gap between clinical accuracy and everyday accessibility, offering a solution that could transform teleophthalmology and promote equitable eye care worldwide.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60690" y="4843343"/>
            <a:ext cx="2717006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Target Populations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60690" y="5391150"/>
            <a:ext cx="4243388" cy="1580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Infants and non-verbal individuals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Rural and underserved communities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Mass screening programs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Resource-limited healthcare settings</a:t>
            </a:r>
            <a:endParaRPr lang="en-US" sz="1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002" y="2284571"/>
            <a:ext cx="8335208" cy="465212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C0125A3-6AEA-F343-9953-6CA2C0E1F4B8}"/>
              </a:ext>
            </a:extLst>
          </p:cNvPr>
          <p:cNvSpPr/>
          <p:nvPr/>
        </p:nvSpPr>
        <p:spPr>
          <a:xfrm>
            <a:off x="12279086" y="7565571"/>
            <a:ext cx="2242457" cy="5660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609</Words>
  <Application>Microsoft Office PowerPoint</Application>
  <PresentationFormat>Custom</PresentationFormat>
  <Paragraphs>114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DM Sans Light</vt:lpstr>
      <vt:lpstr>Inter Medium</vt:lpstr>
      <vt:lpstr>DM Sans Semi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ridhi sood</cp:lastModifiedBy>
  <cp:revision>2</cp:revision>
  <dcterms:created xsi:type="dcterms:W3CDTF">2026-03-23T10:27:00Z</dcterms:created>
  <dcterms:modified xsi:type="dcterms:W3CDTF">2026-05-01T08:41:06Z</dcterms:modified>
</cp:coreProperties>
</file>